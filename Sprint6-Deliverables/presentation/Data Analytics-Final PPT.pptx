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3" r:id="rId10"/>
    <p:sldId id="264" r:id="rId11"/>
    <p:sldId id="265" r:id="rId12"/>
    <p:sldId id="266" r:id="rId13"/>
    <p:sldId id="267" r:id="rId14"/>
    <p:sldId id="28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E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5D7F7-C1D0-4494-93BE-3F49C27C6989}" v="36" dt="2026-05-04T16:53:56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na Tavvala" userId="23089d3319031a36" providerId="LiveId" clId="{0F784A44-24FB-4785-B076-6F54B6105BFF}"/>
    <pc:docChg chg="undo redo custSel addSld delSld modSld">
      <pc:chgData name="Meena Tavvala" userId="23089d3319031a36" providerId="LiveId" clId="{0F784A44-24FB-4785-B076-6F54B6105BFF}" dt="2026-05-04T16:53:56.715" v="214" actId="20577"/>
      <pc:docMkLst>
        <pc:docMk/>
      </pc:docMkLst>
      <pc:sldChg chg="modSp mod">
        <pc:chgData name="Meena Tavvala" userId="23089d3319031a36" providerId="LiveId" clId="{0F784A44-24FB-4785-B076-6F54B6105BFF}" dt="2026-05-02T04:02:42.363" v="174" actId="20577"/>
        <pc:sldMkLst>
          <pc:docMk/>
          <pc:sldMk cId="0" sldId="256"/>
        </pc:sldMkLst>
        <pc:spChg chg="mod">
          <ac:chgData name="Meena Tavvala" userId="23089d3319031a36" providerId="LiveId" clId="{0F784A44-24FB-4785-B076-6F54B6105BFF}" dt="2026-05-02T04:02:42.363" v="174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Meena Tavvala" userId="23089d3319031a36" providerId="LiveId" clId="{0F784A44-24FB-4785-B076-6F54B6105BFF}" dt="2026-05-03T17:23:28.050" v="193" actId="20577"/>
        <pc:sldMkLst>
          <pc:docMk/>
          <pc:sldMk cId="0" sldId="257"/>
        </pc:sldMkLst>
        <pc:spChg chg="mod">
          <ac:chgData name="Meena Tavvala" userId="23089d3319031a36" providerId="LiveId" clId="{0F784A44-24FB-4785-B076-6F54B6105BFF}" dt="2026-05-03T17:23:15.734" v="183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eena Tavvala" userId="23089d3319031a36" providerId="LiveId" clId="{0F784A44-24FB-4785-B076-6F54B6105BFF}" dt="2026-05-03T17:23:28.050" v="193" actId="20577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Meena Tavvala" userId="23089d3319031a36" providerId="LiveId" clId="{0F784A44-24FB-4785-B076-6F54B6105BFF}" dt="2026-05-04T16:53:48.430" v="210" actId="20577"/>
        <pc:sldMkLst>
          <pc:docMk/>
          <pc:sldMk cId="0" sldId="259"/>
        </pc:sldMkLst>
        <pc:spChg chg="mod">
          <ac:chgData name="Meena Tavvala" userId="23089d3319031a36" providerId="LiveId" clId="{0F784A44-24FB-4785-B076-6F54B6105BFF}" dt="2026-05-03T22:13:14.336" v="200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Meena Tavvala" userId="23089d3319031a36" providerId="LiveId" clId="{0F784A44-24FB-4785-B076-6F54B6105BFF}" dt="2026-05-03T22:13:17.523" v="206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eena Tavvala" userId="23089d3319031a36" providerId="LiveId" clId="{0F784A44-24FB-4785-B076-6F54B6105BFF}" dt="2026-05-04T16:53:45.765" v="208" actId="20577"/>
          <ac:spMkLst>
            <pc:docMk/>
            <pc:sldMk cId="0" sldId="259"/>
            <ac:spMk id="29" creationId="{00000000-0000-0000-0000-000000000000}"/>
          </ac:spMkLst>
        </pc:spChg>
        <pc:spChg chg="mod">
          <ac:chgData name="Meena Tavvala" userId="23089d3319031a36" providerId="LiveId" clId="{0F784A44-24FB-4785-B076-6F54B6105BFF}" dt="2026-05-04T16:53:48.430" v="210" actId="20577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Meena Tavvala" userId="23089d3319031a36" providerId="LiveId" clId="{0F784A44-24FB-4785-B076-6F54B6105BFF}" dt="2026-05-04T16:53:56.715" v="214" actId="20577"/>
        <pc:sldMkLst>
          <pc:docMk/>
          <pc:sldMk cId="0" sldId="260"/>
        </pc:sldMkLst>
        <pc:spChg chg="mod">
          <ac:chgData name="Meena Tavvala" userId="23089d3319031a36" providerId="LiveId" clId="{0F784A44-24FB-4785-B076-6F54B6105BFF}" dt="2026-05-04T16:53:56.715" v="214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new mod">
        <pc:chgData name="Meena Tavvala" userId="23089d3319031a36" providerId="LiveId" clId="{0F784A44-24FB-4785-B076-6F54B6105BFF}" dt="2026-05-02T03:38:41.044" v="106" actId="14100"/>
        <pc:sldMkLst>
          <pc:docMk/>
          <pc:sldMk cId="2233331738" sldId="268"/>
        </pc:sldMkLst>
        <pc:spChg chg="add mod">
          <ac:chgData name="Meena Tavvala" userId="23089d3319031a36" providerId="LiveId" clId="{0F784A44-24FB-4785-B076-6F54B6105BFF}" dt="2026-05-02T03:34:58.260" v="86" actId="1076"/>
          <ac:spMkLst>
            <pc:docMk/>
            <pc:sldMk cId="2233331738" sldId="268"/>
            <ac:spMk id="10" creationId="{4419CE93-9FBB-D516-1F89-8AD94F7123B3}"/>
          </ac:spMkLst>
        </pc:spChg>
        <pc:spChg chg="add mod">
          <ac:chgData name="Meena Tavvala" userId="23089d3319031a36" providerId="LiveId" clId="{0F784A44-24FB-4785-B076-6F54B6105BFF}" dt="2026-05-02T03:36:40.725" v="99" actId="14100"/>
          <ac:spMkLst>
            <pc:docMk/>
            <pc:sldMk cId="2233331738" sldId="268"/>
            <ac:spMk id="12" creationId="{D8C28DB0-F5F5-1AC7-427D-8E3F9FDCDE91}"/>
          </ac:spMkLst>
        </pc:spChg>
        <pc:spChg chg="add mod">
          <ac:chgData name="Meena Tavvala" userId="23089d3319031a36" providerId="LiveId" clId="{0F784A44-24FB-4785-B076-6F54B6105BFF}" dt="2026-05-02T03:38:41.044" v="106" actId="14100"/>
          <ac:spMkLst>
            <pc:docMk/>
            <pc:sldMk cId="2233331738" sldId="268"/>
            <ac:spMk id="15" creationId="{AFB37E9A-F7AD-68AA-C32C-D655202A64BC}"/>
          </ac:spMkLst>
        </pc:spChg>
        <pc:picChg chg="add mod">
          <ac:chgData name="Meena Tavvala" userId="23089d3319031a36" providerId="LiveId" clId="{0F784A44-24FB-4785-B076-6F54B6105BFF}" dt="2026-05-02T03:31:15.882" v="63" actId="1076"/>
          <ac:picMkLst>
            <pc:docMk/>
            <pc:sldMk cId="2233331738" sldId="268"/>
            <ac:picMk id="3" creationId="{43FFAE8E-E9DE-4724-A557-0017D98F32E4}"/>
          </ac:picMkLst>
        </pc:picChg>
        <pc:picChg chg="add mod">
          <ac:chgData name="Meena Tavvala" userId="23089d3319031a36" providerId="LiveId" clId="{0F784A44-24FB-4785-B076-6F54B6105BFF}" dt="2026-05-02T03:31:03.903" v="62" actId="1076"/>
          <ac:picMkLst>
            <pc:docMk/>
            <pc:sldMk cId="2233331738" sldId="268"/>
            <ac:picMk id="5" creationId="{1901F09C-7CC6-CDBA-1021-2177C1D2CFC5}"/>
          </ac:picMkLst>
        </pc:picChg>
        <pc:picChg chg="add mod">
          <ac:chgData name="Meena Tavvala" userId="23089d3319031a36" providerId="LiveId" clId="{0F784A44-24FB-4785-B076-6F54B6105BFF}" dt="2026-05-02T03:32:29.941" v="71" actId="14100"/>
          <ac:picMkLst>
            <pc:docMk/>
            <pc:sldMk cId="2233331738" sldId="268"/>
            <ac:picMk id="7" creationId="{F96F89EC-5886-4426-BB30-BF2857B4036A}"/>
          </ac:picMkLst>
        </pc:picChg>
        <pc:picChg chg="add mod">
          <ac:chgData name="Meena Tavvala" userId="23089d3319031a36" providerId="LiveId" clId="{0F784A44-24FB-4785-B076-6F54B6105BFF}" dt="2026-05-02T03:31:56.248" v="67" actId="14100"/>
          <ac:picMkLst>
            <pc:docMk/>
            <pc:sldMk cId="2233331738" sldId="268"/>
            <ac:picMk id="9" creationId="{D4C96143-B1F0-6BC9-6372-24B0E175F87E}"/>
          </ac:picMkLst>
        </pc:picChg>
      </pc:sldChg>
      <pc:sldChg chg="addSp delSp modSp add mod">
        <pc:chgData name="Meena Tavvala" userId="23089d3319031a36" providerId="LiveId" clId="{0F784A44-24FB-4785-B076-6F54B6105BFF}" dt="2026-05-02T03:52:45.195" v="154" actId="14100"/>
        <pc:sldMkLst>
          <pc:docMk/>
          <pc:sldMk cId="2332070284" sldId="269"/>
        </pc:sldMkLst>
        <pc:spChg chg="add mod">
          <ac:chgData name="Meena Tavvala" userId="23089d3319031a36" providerId="LiveId" clId="{0F784A44-24FB-4785-B076-6F54B6105BFF}" dt="2026-05-02T03:42:48.156" v="118"/>
          <ac:spMkLst>
            <pc:docMk/>
            <pc:sldMk cId="2332070284" sldId="269"/>
            <ac:spMk id="2" creationId="{BD278773-27BE-516D-0481-FC840345D95B}"/>
          </ac:spMkLst>
        </pc:spChg>
        <pc:spChg chg="add mod">
          <ac:chgData name="Meena Tavvala" userId="23089d3319031a36" providerId="LiveId" clId="{0F784A44-24FB-4785-B076-6F54B6105BFF}" dt="2026-05-02T03:43:18.819" v="123"/>
          <ac:spMkLst>
            <pc:docMk/>
            <pc:sldMk cId="2332070284" sldId="269"/>
            <ac:spMk id="4" creationId="{6A8D3710-89FE-5922-A023-33022A903B73}"/>
          </ac:spMkLst>
        </pc:spChg>
        <pc:picChg chg="add mod">
          <ac:chgData name="Meena Tavvala" userId="23089d3319031a36" providerId="LiveId" clId="{0F784A44-24FB-4785-B076-6F54B6105BFF}" dt="2026-05-02T03:46:59.872" v="140" actId="14100"/>
          <ac:picMkLst>
            <pc:docMk/>
            <pc:sldMk cId="2332070284" sldId="269"/>
            <ac:picMk id="8" creationId="{D477D862-E748-0A46-B44A-E7BCCE815A00}"/>
          </ac:picMkLst>
        </pc:picChg>
        <pc:picChg chg="add mod">
          <ac:chgData name="Meena Tavvala" userId="23089d3319031a36" providerId="LiveId" clId="{0F784A44-24FB-4785-B076-6F54B6105BFF}" dt="2026-05-02T03:47:03.637" v="141" actId="14100"/>
          <ac:picMkLst>
            <pc:docMk/>
            <pc:sldMk cId="2332070284" sldId="269"/>
            <ac:picMk id="13" creationId="{83442B5F-F572-8D91-1E63-5067C85FC705}"/>
          </ac:picMkLst>
        </pc:picChg>
        <pc:picChg chg="add mod">
          <ac:chgData name="Meena Tavvala" userId="23089d3319031a36" providerId="LiveId" clId="{0F784A44-24FB-4785-B076-6F54B6105BFF}" dt="2026-05-02T03:51:41.800" v="150" actId="14100"/>
          <ac:picMkLst>
            <pc:docMk/>
            <pc:sldMk cId="2332070284" sldId="269"/>
            <ac:picMk id="16" creationId="{1E9AC017-E2E2-AFE6-FA76-D2B8959A3B7C}"/>
          </ac:picMkLst>
        </pc:picChg>
        <pc:picChg chg="add mod">
          <ac:chgData name="Meena Tavvala" userId="23089d3319031a36" providerId="LiveId" clId="{0F784A44-24FB-4785-B076-6F54B6105BFF}" dt="2026-05-02T03:52:45.195" v="154" actId="14100"/>
          <ac:picMkLst>
            <pc:docMk/>
            <pc:sldMk cId="2332070284" sldId="269"/>
            <ac:picMk id="18" creationId="{827D533B-D55A-B773-F66C-A81AB729FE44}"/>
          </ac:picMkLst>
        </pc:picChg>
      </pc:sldChg>
      <pc:sldChg chg="delSp add mod setBg delDesignElem">
        <pc:chgData name="Meena Tavvala" userId="23089d3319031a36" providerId="LiveId" clId="{0F784A44-24FB-4785-B076-6F54B6105BFF}" dt="2026-05-02T04:04:37.906" v="177" actId="478"/>
        <pc:sldMkLst>
          <pc:docMk/>
          <pc:sldMk cId="1306086532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50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15F7-CF56-46C4-9D6B-FC82827A3BD0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628649" y="1282446"/>
            <a:ext cx="7886700" cy="20574"/>
          </a:xfrm>
          <a:custGeom>
            <a:avLst/>
            <a:gdLst>
              <a:gd name="csX0" fmla="*/ 0 w 7886700"/>
              <a:gd name="csY0" fmla="*/ 0 h 20574"/>
              <a:gd name="csX1" fmla="*/ 420624 w 7886700"/>
              <a:gd name="csY1" fmla="*/ 0 h 20574"/>
              <a:gd name="csX2" fmla="*/ 1156716 w 7886700"/>
              <a:gd name="csY2" fmla="*/ 0 h 20574"/>
              <a:gd name="csX3" fmla="*/ 1577340 w 7886700"/>
              <a:gd name="csY3" fmla="*/ 0 h 20574"/>
              <a:gd name="csX4" fmla="*/ 2155698 w 7886700"/>
              <a:gd name="csY4" fmla="*/ 0 h 20574"/>
              <a:gd name="csX5" fmla="*/ 2970657 w 7886700"/>
              <a:gd name="csY5" fmla="*/ 0 h 20574"/>
              <a:gd name="csX6" fmla="*/ 3627882 w 7886700"/>
              <a:gd name="csY6" fmla="*/ 0 h 20574"/>
              <a:gd name="csX7" fmla="*/ 4363974 w 7886700"/>
              <a:gd name="csY7" fmla="*/ 0 h 20574"/>
              <a:gd name="csX8" fmla="*/ 4942332 w 7886700"/>
              <a:gd name="csY8" fmla="*/ 0 h 20574"/>
              <a:gd name="csX9" fmla="*/ 5599557 w 7886700"/>
              <a:gd name="csY9" fmla="*/ 0 h 20574"/>
              <a:gd name="csX10" fmla="*/ 6414516 w 7886700"/>
              <a:gd name="csY10" fmla="*/ 0 h 20574"/>
              <a:gd name="csX11" fmla="*/ 6914007 w 7886700"/>
              <a:gd name="csY11" fmla="*/ 0 h 20574"/>
              <a:gd name="csX12" fmla="*/ 7886700 w 7886700"/>
              <a:gd name="csY12" fmla="*/ 0 h 20574"/>
              <a:gd name="csX13" fmla="*/ 7886700 w 7886700"/>
              <a:gd name="csY13" fmla="*/ 20574 h 20574"/>
              <a:gd name="csX14" fmla="*/ 7308342 w 7886700"/>
              <a:gd name="csY14" fmla="*/ 20574 h 20574"/>
              <a:gd name="csX15" fmla="*/ 6887718 w 7886700"/>
              <a:gd name="csY15" fmla="*/ 20574 h 20574"/>
              <a:gd name="csX16" fmla="*/ 6230493 w 7886700"/>
              <a:gd name="csY16" fmla="*/ 20574 h 20574"/>
              <a:gd name="csX17" fmla="*/ 5731002 w 7886700"/>
              <a:gd name="csY17" fmla="*/ 20574 h 20574"/>
              <a:gd name="csX18" fmla="*/ 5073777 w 7886700"/>
              <a:gd name="csY18" fmla="*/ 20574 h 20574"/>
              <a:gd name="csX19" fmla="*/ 4416552 w 7886700"/>
              <a:gd name="csY19" fmla="*/ 20574 h 20574"/>
              <a:gd name="csX20" fmla="*/ 3759327 w 7886700"/>
              <a:gd name="csY20" fmla="*/ 20574 h 20574"/>
              <a:gd name="csX21" fmla="*/ 3102102 w 7886700"/>
              <a:gd name="csY21" fmla="*/ 20574 h 20574"/>
              <a:gd name="csX22" fmla="*/ 2523744 w 7886700"/>
              <a:gd name="csY22" fmla="*/ 20574 h 20574"/>
              <a:gd name="csX23" fmla="*/ 1787652 w 7886700"/>
              <a:gd name="csY23" fmla="*/ 20574 h 20574"/>
              <a:gd name="csX24" fmla="*/ 1130427 w 7886700"/>
              <a:gd name="csY24" fmla="*/ 20574 h 20574"/>
              <a:gd name="csX25" fmla="*/ 0 w 7886700"/>
              <a:gd name="csY25" fmla="*/ 20574 h 20574"/>
              <a:gd name="csX26" fmla="*/ 0 w 7886700"/>
              <a:gd name="csY26" fmla="*/ 0 h 205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86700" h="20574" fill="none" extrusionOk="0">
                <a:moveTo>
                  <a:pt x="0" y="0"/>
                </a:moveTo>
                <a:cubicBezTo>
                  <a:pt x="157525" y="2723"/>
                  <a:pt x="287389" y="-6453"/>
                  <a:pt x="420624" y="0"/>
                </a:cubicBezTo>
                <a:cubicBezTo>
                  <a:pt x="553859" y="6453"/>
                  <a:pt x="825625" y="29874"/>
                  <a:pt x="1156716" y="0"/>
                </a:cubicBezTo>
                <a:cubicBezTo>
                  <a:pt x="1487807" y="-29874"/>
                  <a:pt x="1467015" y="9632"/>
                  <a:pt x="1577340" y="0"/>
                </a:cubicBezTo>
                <a:cubicBezTo>
                  <a:pt x="1687665" y="-9632"/>
                  <a:pt x="2024250" y="19395"/>
                  <a:pt x="2155698" y="0"/>
                </a:cubicBezTo>
                <a:cubicBezTo>
                  <a:pt x="2287146" y="-19395"/>
                  <a:pt x="2775210" y="-36481"/>
                  <a:pt x="2970657" y="0"/>
                </a:cubicBezTo>
                <a:cubicBezTo>
                  <a:pt x="3166104" y="36481"/>
                  <a:pt x="3456933" y="2822"/>
                  <a:pt x="3627882" y="0"/>
                </a:cubicBezTo>
                <a:cubicBezTo>
                  <a:pt x="3798831" y="-2822"/>
                  <a:pt x="4063535" y="23706"/>
                  <a:pt x="4363974" y="0"/>
                </a:cubicBezTo>
                <a:cubicBezTo>
                  <a:pt x="4664413" y="-23706"/>
                  <a:pt x="4721338" y="-85"/>
                  <a:pt x="4942332" y="0"/>
                </a:cubicBezTo>
                <a:cubicBezTo>
                  <a:pt x="5163326" y="85"/>
                  <a:pt x="5298512" y="10710"/>
                  <a:pt x="5599557" y="0"/>
                </a:cubicBezTo>
                <a:cubicBezTo>
                  <a:pt x="5900603" y="-10710"/>
                  <a:pt x="6095214" y="3467"/>
                  <a:pt x="6414516" y="0"/>
                </a:cubicBezTo>
                <a:cubicBezTo>
                  <a:pt x="6733818" y="-3467"/>
                  <a:pt x="6803711" y="5617"/>
                  <a:pt x="6914007" y="0"/>
                </a:cubicBezTo>
                <a:cubicBezTo>
                  <a:pt x="7024303" y="-5617"/>
                  <a:pt x="7602090" y="-33929"/>
                  <a:pt x="7886700" y="0"/>
                </a:cubicBezTo>
                <a:cubicBezTo>
                  <a:pt x="7887140" y="6295"/>
                  <a:pt x="7885688" y="11558"/>
                  <a:pt x="7886700" y="20574"/>
                </a:cubicBezTo>
                <a:cubicBezTo>
                  <a:pt x="7637258" y="10284"/>
                  <a:pt x="7575695" y="9871"/>
                  <a:pt x="7308342" y="20574"/>
                </a:cubicBezTo>
                <a:cubicBezTo>
                  <a:pt x="7040989" y="31277"/>
                  <a:pt x="7003134" y="37163"/>
                  <a:pt x="6887718" y="20574"/>
                </a:cubicBezTo>
                <a:cubicBezTo>
                  <a:pt x="6772302" y="3985"/>
                  <a:pt x="6488136" y="51389"/>
                  <a:pt x="6230493" y="20574"/>
                </a:cubicBezTo>
                <a:cubicBezTo>
                  <a:pt x="5972851" y="-10241"/>
                  <a:pt x="5929971" y="28764"/>
                  <a:pt x="5731002" y="20574"/>
                </a:cubicBezTo>
                <a:cubicBezTo>
                  <a:pt x="5532033" y="12384"/>
                  <a:pt x="5381360" y="21850"/>
                  <a:pt x="5073777" y="20574"/>
                </a:cubicBezTo>
                <a:cubicBezTo>
                  <a:pt x="4766194" y="19298"/>
                  <a:pt x="4713365" y="22453"/>
                  <a:pt x="4416552" y="20574"/>
                </a:cubicBezTo>
                <a:cubicBezTo>
                  <a:pt x="4119740" y="18695"/>
                  <a:pt x="3915304" y="21560"/>
                  <a:pt x="3759327" y="20574"/>
                </a:cubicBezTo>
                <a:cubicBezTo>
                  <a:pt x="3603351" y="19588"/>
                  <a:pt x="3375414" y="14360"/>
                  <a:pt x="3102102" y="20574"/>
                </a:cubicBezTo>
                <a:cubicBezTo>
                  <a:pt x="2828791" y="26788"/>
                  <a:pt x="2795766" y="12603"/>
                  <a:pt x="2523744" y="20574"/>
                </a:cubicBezTo>
                <a:cubicBezTo>
                  <a:pt x="2251722" y="28545"/>
                  <a:pt x="1947642" y="25435"/>
                  <a:pt x="1787652" y="20574"/>
                </a:cubicBezTo>
                <a:cubicBezTo>
                  <a:pt x="1627662" y="15713"/>
                  <a:pt x="1413335" y="22807"/>
                  <a:pt x="1130427" y="20574"/>
                </a:cubicBezTo>
                <a:cubicBezTo>
                  <a:pt x="847520" y="18341"/>
                  <a:pt x="292942" y="-20486"/>
                  <a:pt x="0" y="20574"/>
                </a:cubicBezTo>
                <a:cubicBezTo>
                  <a:pt x="929" y="11485"/>
                  <a:pt x="125" y="9213"/>
                  <a:pt x="0" y="0"/>
                </a:cubicBezTo>
                <a:close/>
              </a:path>
              <a:path w="7886700" h="20574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887055" y="5465"/>
                  <a:pt x="7886440" y="14230"/>
                  <a:pt x="7886700" y="20574"/>
                </a:cubicBezTo>
                <a:cubicBezTo>
                  <a:pt x="7752936" y="30980"/>
                  <a:pt x="7671143" y="15382"/>
                  <a:pt x="7466076" y="20574"/>
                </a:cubicBezTo>
                <a:cubicBezTo>
                  <a:pt x="7261009" y="25766"/>
                  <a:pt x="7039949" y="39034"/>
                  <a:pt x="6651117" y="20574"/>
                </a:cubicBezTo>
                <a:cubicBezTo>
                  <a:pt x="6262285" y="2114"/>
                  <a:pt x="6379660" y="14574"/>
                  <a:pt x="6151626" y="20574"/>
                </a:cubicBezTo>
                <a:cubicBezTo>
                  <a:pt x="5923592" y="26574"/>
                  <a:pt x="5816137" y="42595"/>
                  <a:pt x="5494401" y="20574"/>
                </a:cubicBezTo>
                <a:cubicBezTo>
                  <a:pt x="5172665" y="-1447"/>
                  <a:pt x="5022009" y="7288"/>
                  <a:pt x="4679442" y="20574"/>
                </a:cubicBezTo>
                <a:cubicBezTo>
                  <a:pt x="4336875" y="33860"/>
                  <a:pt x="4169241" y="-11410"/>
                  <a:pt x="4022217" y="20574"/>
                </a:cubicBezTo>
                <a:cubicBezTo>
                  <a:pt x="3875193" y="52558"/>
                  <a:pt x="3723776" y="39340"/>
                  <a:pt x="3601593" y="20574"/>
                </a:cubicBezTo>
                <a:cubicBezTo>
                  <a:pt x="3479410" y="1808"/>
                  <a:pt x="3283834" y="13589"/>
                  <a:pt x="3102102" y="20574"/>
                </a:cubicBezTo>
                <a:cubicBezTo>
                  <a:pt x="2920370" y="27559"/>
                  <a:pt x="2467386" y="28546"/>
                  <a:pt x="2287143" y="20574"/>
                </a:cubicBezTo>
                <a:cubicBezTo>
                  <a:pt x="2106900" y="12602"/>
                  <a:pt x="1798848" y="52698"/>
                  <a:pt x="1629918" y="20574"/>
                </a:cubicBezTo>
                <a:cubicBezTo>
                  <a:pt x="1460989" y="-11550"/>
                  <a:pt x="1324115" y="28055"/>
                  <a:pt x="1130427" y="20574"/>
                </a:cubicBezTo>
                <a:cubicBezTo>
                  <a:pt x="936739" y="13093"/>
                  <a:pt x="302034" y="23285"/>
                  <a:pt x="0" y="20574"/>
                </a:cubicBezTo>
                <a:cubicBezTo>
                  <a:pt x="-40" y="12796"/>
                  <a:pt x="-161" y="545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68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164592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44311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00">
                <a:solidFill>
                  <a:srgbClr val="FFFFFF"/>
                </a:solidFill>
              </a:rPr>
              <a:t>Hotel Chain Analytics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3209249" y="2263140"/>
            <a:ext cx="31915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00">
                <a:solidFill>
                  <a:srgbClr val="0D9488"/>
                </a:solidFill>
              </a:rPr>
              <a:t>Platform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6828503" y="3170460"/>
            <a:ext cx="2802194" cy="88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EEAD4"/>
                </a:solidFill>
              </a:rPr>
              <a:t>Course - CIS 444/544</a:t>
            </a:r>
            <a:br>
              <a:rPr lang="en-US" sz="1400">
                <a:solidFill>
                  <a:srgbClr val="5EEAD4"/>
                </a:solidFill>
              </a:rPr>
            </a:br>
            <a:r>
              <a:rPr lang="en-US" sz="1400">
                <a:solidFill>
                  <a:srgbClr val="5EEAD4"/>
                </a:solidFill>
              </a:rPr>
              <a:t>Professor: Flint Million</a:t>
            </a:r>
            <a:br>
              <a:rPr lang="en-US" sz="1400">
                <a:solidFill>
                  <a:srgbClr val="5EEAD4"/>
                </a:solidFill>
              </a:rPr>
            </a:br>
            <a:r>
              <a:rPr lang="en-US" sz="1400">
                <a:solidFill>
                  <a:srgbClr val="5EEAD4"/>
                </a:solidFill>
              </a:rPr>
              <a:t>Group 5: Meena, Kavaughn, Yu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BD5E1"/>
                </a:solidFill>
              </a:rPr>
              <a:t>Data Analytics |  Spring 2026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73568" y="13716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74736" y="1371600"/>
            <a:ext cx="109728" cy="10972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75904" y="1371600"/>
            <a:ext cx="109728" cy="10972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77072" y="1371600"/>
            <a:ext cx="109728" cy="109728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Business Context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245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5EEAD4"/>
                </a:solidFill>
              </a:rPr>
              <a:t>Properties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623K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249631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5EEAD4"/>
                </a:solidFill>
              </a:rPr>
              <a:t>Customers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626864" y="96012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26864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8.9M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4626864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5EEAD4"/>
                </a:solidFill>
              </a:rPr>
              <a:t>Transactions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6757416" y="960120"/>
            <a:ext cx="19202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57416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29M+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6757416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5EEAD4"/>
                </a:solidFill>
              </a:rPr>
              <a:t>Line Items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54864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Hotel Operations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944368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Source: SQL Server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Rooms, reservations, payroll, amenities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Multi-property structure with 245 locations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Core transactional and revenue data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54864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Gift Shop Operations</a:t>
            </a: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2944368"/>
            <a:ext cx="3611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Source: MongoDB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Collections: shops, products, transactions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Flexible schema with nested documents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Cross-source revenue comparison enabled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Business Questions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11 analytics questions driving warehouse design and dashboard development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143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914400" y="10698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Monthly revenue by property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9842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4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914400" y="19110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Customer spending patterns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365760" y="2642616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28254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7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914400" y="27523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Hotel vs. gift shop revenue (cross-source)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36667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10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914400" y="3593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Labor costs vs. revenue ratios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3291840" y="9601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01568" y="1143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0156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3840480" y="10698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Revenue by product/service type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3291840" y="18013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01568" y="19842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0156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5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3840480" y="19110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Room pricing analysis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3291840" y="2642616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01568" y="28254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01568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8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840480" y="27523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Top gift shop categories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3291840" y="3483864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01568" y="366674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01568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11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3840480" y="3593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Amenities vs. revenue correlation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217920" y="9601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27648" y="1143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27648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3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6766560" y="10698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Check-in volume trends over time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6217920" y="1801368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27648" y="19842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2764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6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766560" y="19110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Payment method usage breakdown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6217920" y="2642616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27648" y="28254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27648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9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6766560" y="275234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</a:rPr>
              <a:t>Weekend vs. weekday check-ins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Data Architecture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763671"/>
            <a:ext cx="8412480" cy="19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Source → ETL → Warehouse → Dashboard pipeline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42900" y="1046251"/>
            <a:ext cx="1828800" cy="3017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65760" y="1045660"/>
            <a:ext cx="1828800" cy="28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Data Sources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459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75488" y="150876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SQL Server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cis44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75488" y="2258568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75488" y="2258568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MongoDB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cis444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2240280" y="2423160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2423160" y="2359152"/>
            <a:ext cx="9144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560320" y="1045661"/>
            <a:ext cx="1828800" cy="3017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2560320" y="1037992"/>
            <a:ext cx="1828800" cy="28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Python ETL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2651760" y="1371600"/>
            <a:ext cx="16459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2670048" y="1508760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670048" y="150876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pyodbc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2670048" y="2258568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2670048" y="2258568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pymongo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2670048" y="3008376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670048" y="30083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Incremental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Tracking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434840" y="2423160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4617720" y="2359152"/>
            <a:ext cx="9144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4777740" y="1044776"/>
            <a:ext cx="1828800" cy="30175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4777740" y="1037988"/>
            <a:ext cx="1805940" cy="28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HotelDW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16459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4864608" y="1508760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4864608" y="150876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Dimensions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4864608" y="2258568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4864608" y="2258568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Fact Tables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4864608" y="3008376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4864608" y="30083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DGDB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Governance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6629400" y="2423160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6812280" y="2359152"/>
            <a:ext cx="9144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6995160" y="1037992"/>
            <a:ext cx="1828800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7018020" y="1037992"/>
            <a:ext cx="1760220" cy="28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Dashboard</a:t>
            </a:r>
            <a:endParaRPr lang="en-US" sz="1400"/>
          </a:p>
        </p:txBody>
      </p:sp>
      <p:sp>
        <p:nvSpPr>
          <p:cNvPr id="38" name="Shape 36"/>
          <p:cNvSpPr/>
          <p:nvPr/>
        </p:nvSpPr>
        <p:spPr>
          <a:xfrm>
            <a:off x="7040880" y="1371600"/>
            <a:ext cx="164592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9" name="Shape 37"/>
          <p:cNvSpPr/>
          <p:nvPr/>
        </p:nvSpPr>
        <p:spPr>
          <a:xfrm>
            <a:off x="7059168" y="1508760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7059168" y="1508760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Streamlit</a:t>
            </a: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7059168" y="2258568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2" name="Text 40"/>
          <p:cNvSpPr/>
          <p:nvPr/>
        </p:nvSpPr>
        <p:spPr>
          <a:xfrm>
            <a:off x="7059168" y="2258568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Plotly</a:t>
            </a:r>
            <a:endParaRPr lang="en-US" sz="1400"/>
          </a:p>
        </p:txBody>
      </p:sp>
      <p:sp>
        <p:nvSpPr>
          <p:cNvPr id="43" name="Shape 41"/>
          <p:cNvSpPr/>
          <p:nvPr/>
        </p:nvSpPr>
        <p:spPr>
          <a:xfrm>
            <a:off x="7059168" y="3008376"/>
            <a:ext cx="1609344" cy="62179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7059168" y="30083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4 Analytics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</a:rPr>
              <a:t>Tabs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Star Schema Design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>
                <a:solidFill>
                  <a:srgbClr val="0D9488"/>
                </a:solidFill>
              </a:rPr>
              <a:t>Fact tables across </a:t>
            </a:r>
            <a:r>
              <a:rPr lang="en-US" i="1" err="1">
                <a:solidFill>
                  <a:srgbClr val="0D9488"/>
                </a:solidFill>
              </a:rPr>
              <a:t>HotelDW</a:t>
            </a:r>
            <a:r>
              <a:rPr lang="en-US" i="1">
                <a:solidFill>
                  <a:srgbClr val="0D9488"/>
                </a:solidFill>
              </a:rPr>
              <a:t> - purpose-built for each analytics domain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94360" y="1014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fact_revenue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</a:rPr>
              <a:t>Grain: Transaction line item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291840" y="1014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</a:rPr>
              <a:t>Dimensions: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297680" y="10149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dim_date · dim_property · dim_customer · dim_room_type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365760" y="1746504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54864" cy="69494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94360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fact_checkin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94360" y="2112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</a:rPr>
              <a:t>Grain: Check-in event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291840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</a:rPr>
              <a:t>Dimensions: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297680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dim_date · dim_property · dim_customer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365760" y="2532888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65760" y="2532888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59436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fact_gift_shop_sales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94360" y="2898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</a:rPr>
              <a:t>Grain: Gift shop line item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3291840" y="2587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</a:rPr>
              <a:t>Dimensions: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4297680" y="25877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dim_date · dim_property · dim_shop · dim_gift_product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365760" y="3319272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365760" y="3319272"/>
            <a:ext cx="54864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94360" y="33741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fact_payroll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94360" y="36850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</a:rPr>
              <a:t>Grain: Payroll record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3291840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</a:rPr>
              <a:t>Dimensions: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4297680" y="33741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dim_date · dim_property · dim_employee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365760" y="4105656"/>
            <a:ext cx="84124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365760" y="4105656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9436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fact_property_amenity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94360" y="44714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4748B"/>
                </a:solidFill>
              </a:rPr>
              <a:t>Grain: Property-amenity mapping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32918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64748B"/>
                </a:solidFill>
              </a:rPr>
              <a:t>Dimensions: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429768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dim_property · dim_amenity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3458"/>
            <a:ext cx="8229600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300">
                <a:solidFill>
                  <a:srgbClr val="5EEAD4"/>
                </a:solidFill>
              </a:rPr>
              <a:t>LIVE DASHBOARD DEMO</a:t>
            </a:r>
            <a:endParaRPr lang="en-US" sz="3200">
              <a:solidFill>
                <a:srgbClr val="5EEAD4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>
                <a:solidFill>
                  <a:srgbClr val="5EEAD4"/>
                </a:solidFill>
              </a:rPr>
              <a:t>Streamlit + Plotly - Interactive Analytics</a:t>
            </a:r>
            <a:endParaRPr lang="en-US">
              <a:solidFill>
                <a:srgbClr val="5EEAD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19659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/>
              <a:t>01</a:t>
            </a:r>
            <a:endParaRPr lang="en-US" sz="270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Executive Overview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/>
              <a:t>KPIs, revenue trend, payment breakdown, top properties</a:t>
            </a:r>
          </a:p>
        </p:txBody>
      </p:sp>
      <p:sp>
        <p:nvSpPr>
          <p:cNvPr id="8" name="Shape 6"/>
          <p:cNvSpPr/>
          <p:nvPr/>
        </p:nvSpPr>
        <p:spPr>
          <a:xfrm>
            <a:off x="2496312" y="1783080"/>
            <a:ext cx="19659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/>
              <a:t>02</a:t>
            </a:r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2587752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Operations &amp; Staffing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2587752" y="28803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/>
              <a:t>Labor cost ratios, weekend vs. weekday patterns</a:t>
            </a:r>
          </a:p>
        </p:txBody>
      </p:sp>
      <p:sp>
        <p:nvSpPr>
          <p:cNvPr id="12" name="Shape 10"/>
          <p:cNvSpPr/>
          <p:nvPr/>
        </p:nvSpPr>
        <p:spPr>
          <a:xfrm>
            <a:off x="4626864" y="1783080"/>
            <a:ext cx="19659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/>
              <a:t>03</a:t>
            </a:r>
            <a:endParaRPr lang="en-US" sz="2700"/>
          </a:p>
        </p:txBody>
      </p:sp>
      <p:sp>
        <p:nvSpPr>
          <p:cNvPr id="14" name="Text 12"/>
          <p:cNvSpPr/>
          <p:nvPr/>
        </p:nvSpPr>
        <p:spPr>
          <a:xfrm>
            <a:off x="4718304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Gift Shop Analytics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718304" y="28803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/>
              <a:t>Cross-source comparison, category performance</a:t>
            </a:r>
          </a:p>
        </p:txBody>
      </p:sp>
      <p:sp>
        <p:nvSpPr>
          <p:cNvPr id="16" name="Shape 14"/>
          <p:cNvSpPr/>
          <p:nvPr/>
        </p:nvSpPr>
        <p:spPr>
          <a:xfrm>
            <a:off x="6757416" y="1783080"/>
            <a:ext cx="196596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57416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/>
              <a:t>04</a:t>
            </a:r>
            <a:endParaRPr lang="en-US" sz="2700"/>
          </a:p>
        </p:txBody>
      </p:sp>
      <p:sp>
        <p:nvSpPr>
          <p:cNvPr id="18" name="Text 16"/>
          <p:cNvSpPr/>
          <p:nvPr/>
        </p:nvSpPr>
        <p:spPr>
          <a:xfrm>
            <a:off x="6848856" y="2377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/>
              <a:t>Amenities &amp; Trends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848856" y="28803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/>
              <a:t>Amenity impact analysis, seasonal heatmap</a:t>
            </a:r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5EEAD4"/>
                </a:solidFill>
              </a:rPr>
              <a:t>Filters: Date Range  ·  Property Selector  ·  Top-N  ·  3 Computed Measures (YoY, Labor Cost %, Gift Shop %)</a:t>
            </a:r>
            <a:endParaRPr lang="en-US" sz="1400">
              <a:solidFill>
                <a:srgbClr val="5EEAD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FAE8E-E9DE-4724-A557-0017D98F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9243"/>
            <a:ext cx="4530933" cy="2676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1F09C-7CC6-CDBA-1021-2177C1D2C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5388"/>
            <a:ext cx="4530933" cy="1658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F89EC-5886-4426-BB30-BF2857B40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149" y="809243"/>
            <a:ext cx="4286851" cy="2560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C96143-B1F0-6BC9-6372-24B0E175F8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149" y="3369564"/>
            <a:ext cx="4286851" cy="1773936"/>
          </a:xfrm>
          <a:prstGeom prst="rect">
            <a:avLst/>
          </a:prstGeom>
        </p:spPr>
      </p:pic>
      <p:sp>
        <p:nvSpPr>
          <p:cNvPr id="10" name="Shape 4">
            <a:extLst>
              <a:ext uri="{FF2B5EF4-FFF2-40B4-BE49-F238E27FC236}">
                <a16:creationId xmlns:a16="http://schemas.microsoft.com/office/drawing/2014/main" id="{4419CE93-9FBB-D516-1F89-8AD94F7123B3}"/>
              </a:ext>
            </a:extLst>
          </p:cNvPr>
          <p:cNvSpPr/>
          <p:nvPr/>
        </p:nvSpPr>
        <p:spPr>
          <a:xfrm>
            <a:off x="1" y="443483"/>
            <a:ext cx="453093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Executive Overview</a:t>
            </a:r>
            <a:endParaRPr lang="en-US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D8C28DB0-F5F5-1AC7-427D-8E3F9FDCDE91}"/>
              </a:ext>
            </a:extLst>
          </p:cNvPr>
          <p:cNvSpPr/>
          <p:nvPr/>
        </p:nvSpPr>
        <p:spPr>
          <a:xfrm>
            <a:off x="1" y="-109727"/>
            <a:ext cx="9144000" cy="4937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Dashboard Screenshots</a:t>
            </a:r>
            <a:endParaRPr lang="en-US" sz="320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AFB37E9A-F7AD-68AA-C32C-D655202A64BC}"/>
              </a:ext>
            </a:extLst>
          </p:cNvPr>
          <p:cNvSpPr/>
          <p:nvPr/>
        </p:nvSpPr>
        <p:spPr>
          <a:xfrm>
            <a:off x="4857149" y="443483"/>
            <a:ext cx="4286852" cy="36576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Operations &amp; Staffing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31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8351-EDD7-6E3E-0BFA-F5DB2ACB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E48FF4A8-AF6D-82E7-2900-F77BEB1B8D22}"/>
              </a:ext>
            </a:extLst>
          </p:cNvPr>
          <p:cNvSpPr/>
          <p:nvPr/>
        </p:nvSpPr>
        <p:spPr>
          <a:xfrm>
            <a:off x="1" y="-109727"/>
            <a:ext cx="9144000" cy="4937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Dashboard Screenshots</a:t>
            </a:r>
            <a:endParaRPr lang="en-US" sz="3200"/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BD278773-27BE-516D-0481-FC840345D95B}"/>
              </a:ext>
            </a:extLst>
          </p:cNvPr>
          <p:cNvSpPr/>
          <p:nvPr/>
        </p:nvSpPr>
        <p:spPr>
          <a:xfrm>
            <a:off x="1" y="443483"/>
            <a:ext cx="453093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Gift Shop Analytics</a:t>
            </a:r>
            <a:endParaRPr lang="en-US"/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6A8D3710-89FE-5922-A023-33022A903B73}"/>
              </a:ext>
            </a:extLst>
          </p:cNvPr>
          <p:cNvSpPr/>
          <p:nvPr/>
        </p:nvSpPr>
        <p:spPr>
          <a:xfrm>
            <a:off x="4857147" y="443483"/>
            <a:ext cx="4286851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Amenities &amp; Trends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7D862-E748-0A46-B44A-E7BCCE81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679"/>
            <a:ext cx="4530932" cy="2660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442B5F-F572-8D91-1E63-5067C85FC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9584"/>
            <a:ext cx="4530932" cy="16139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9AC017-E2E2-AFE6-FA76-D2B8959A3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147" y="868677"/>
            <a:ext cx="4286851" cy="26609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7D533B-D55A-B773-F66C-A81AB729F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148" y="3529584"/>
            <a:ext cx="4286853" cy="161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7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Key Findings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Insights derived from the HotelDW analytics platform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02920" y="112471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024128" y="1033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Revenue Concentration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24128" y="13075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Top 10 properties account for a disproportionate share of total revenue - high-value asset focus opportunity.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02920" y="1929384"/>
            <a:ext cx="384048" cy="384048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0292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24128" y="1837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Labor Efficiency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024128" y="21122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Properties with labor cost ratio &gt; 30% are candidates for staffing optimization reviews.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02920" y="27340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5029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1024128" y="2642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Gift Shop Impact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024128" y="291693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Cross-source analysis reveals gift shop contribution to total revenue - previously invisible in siloed systems.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1024128" y="3447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Seasonal Patterns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024128" y="37216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Check-in volume shows clear seasonal peaks and troughs enabling proactive staffing and pricing decisions.</a:t>
            </a:r>
            <a:endParaRPr lang="en-US" sz="1400"/>
          </a:p>
        </p:txBody>
      </p:sp>
      <p:sp>
        <p:nvSpPr>
          <p:cNvPr id="33" name="Shape 31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502920" y="43434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50292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1024128" y="4251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Amenity Correlation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1024128" y="4526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Properties with a broader amenity portfolio tend to generate higher revenue per customer visit.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Data Product: Gift Shop Open Dataset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PII-free data mart designed for external sharing and research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Dataset Contents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Database: GiftShopOpenDataset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3749040" cy="621792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73152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properties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Hotel property metadata (no PII)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94360" y="2670048"/>
            <a:ext cx="3749040" cy="621792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3152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products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Gift product catalog and categories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94360" y="3419856"/>
            <a:ext cx="3749040" cy="621792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transactions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731520" y="37398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Re-sequenced IDs, no customer linkage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07492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Privacy Protections</a:t>
            </a: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1463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All customer PII removed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Transaction IDs re-sequenced (non-correlatable)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Exported via SSMS as .sql file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54864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074920" y="2898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Use Cases</a:t>
            </a: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3218688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Product performance benchmarking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Regional sales comparisons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Pricing strategy research</a:t>
            </a:r>
            <a:endParaRPr lang="en-US" sz="14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>
                <a:solidFill>
                  <a:srgbClr val="1E293B"/>
                </a:solidFill>
              </a:rPr>
              <a:t>Academic / external analytics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Data Governance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Sprint 5: DGDB integration - Validation and audit logging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7002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DGDB Tables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3749040" cy="1280160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731520" y="16093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ETL_Runs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Start/end timestamps per run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Rows affected per table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7772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Status (pass/fail)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3749040" cy="1280160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</a:rPr>
              <a:t>Validation_Results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77240" y="3401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Rule ID + description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77240" y="3675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Row-level pass/fail counts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777240" y="3950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→  Timestamp + ETL run link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37002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074920" y="1115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E293B"/>
                </a:solidFill>
              </a:rPr>
              <a:t>4 Validation Rules</a:t>
            </a:r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4920" y="1554480"/>
            <a:ext cx="3520440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5166360" y="170078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166360" y="1700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623560" y="1609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Referential Integrity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623560" y="1883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FK checks across all dimension-fact joins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5074920" y="2322576"/>
            <a:ext cx="3520440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166360" y="24688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6636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562356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Null Checks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62356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Required columns validated before load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5074920" y="3090672"/>
            <a:ext cx="3520440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5166360" y="323697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16636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5623560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Date Range Validity</a:t>
            </a:r>
            <a:endParaRPr lang="en-US" sz="1400"/>
          </a:p>
        </p:txBody>
      </p:sp>
      <p:sp>
        <p:nvSpPr>
          <p:cNvPr id="35" name="Text 33"/>
          <p:cNvSpPr/>
          <p:nvPr/>
        </p:nvSpPr>
        <p:spPr>
          <a:xfrm>
            <a:off x="5623560" y="34198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All dates within expected operational window</a:t>
            </a:r>
            <a:endParaRPr lang="en-US" sz="1400"/>
          </a:p>
        </p:txBody>
      </p:sp>
      <p:sp>
        <p:nvSpPr>
          <p:cNvPr id="36" name="Shape 34"/>
          <p:cNvSpPr/>
          <p:nvPr/>
        </p:nvSpPr>
        <p:spPr>
          <a:xfrm>
            <a:off x="5074920" y="3858768"/>
            <a:ext cx="3520440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7" name="Shape 35"/>
          <p:cNvSpPr/>
          <p:nvPr/>
        </p:nvSpPr>
        <p:spPr>
          <a:xfrm>
            <a:off x="5166360" y="40050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16636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5623560" y="3913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Numeric Range</a:t>
            </a:r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562356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Revenue, cost, and count values within bounds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Sprint-by-Sprint Journey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0D9488"/>
                </a:solidFill>
              </a:rPr>
              <a:t>6 sprints from discovery to production-ready analytics platform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060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1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Discovery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ERD, data dictionary, 6 initial queries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06040" cy="438912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20040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2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MongoDB + DW Design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ETL to MongoDB, star schema DDL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0604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03504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3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44768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DW Population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144768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Cross-source ETL, date dimension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060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36576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4</a:t>
            </a: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Optimization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475488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Incremental ETL, Streamlit POC, new schemas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320040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6060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320040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5</a:t>
            </a:r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0128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Data Governance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3310128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DGDB, validation rules, audit logging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603504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6035040" y="2880360"/>
            <a:ext cx="260604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6035040" y="288036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Sprint 6</a:t>
            </a:r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44768" y="3383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</a:rPr>
              <a:t>Dashboard + Data Product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144768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</a:rPr>
              <a:t>9-viz dashboard, PII-free dataset, presentation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Reflection &amp; Lessons Learned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What Went Well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30352" y="156362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Incremental ETL design scaled cleanly across all 6 sprints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75488" y="256032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30352" y="261518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Cross-source SQL Server + MongoDB integration unlocked richer analytics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75488" y="361188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30352" y="366674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Streamlit + Plotly enabled rapid, professional dashboard development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Challenges</a:t>
            </a:r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55848" y="150876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410712" y="156362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Remote SQL Server timeouts - solved via connection-per-batch pattern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3355848" y="256032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3410712" y="261518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MongoDB schema flexibility required careful data validation at load time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3355848" y="361188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3410712" y="366674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29M+ row datasets required batch processing optimization for performance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Lessons Learned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36208" y="150876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291072" y="156362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Data governance is easier built-in than retrofitted later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6236208" y="256032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6291072" y="261518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Star schema decisions have cascading impact on all downstream analytics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6236208" y="3611880"/>
            <a:ext cx="2523744" cy="8686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6291072" y="3666744"/>
            <a:ext cx="2414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</a:rPr>
              <a:t>Interactive dashboards deliver far more value than static reports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aper airplane flying in the sky with envelopes&#10;&#10;AI-generated content may be incorrect.">
            <a:extLst>
              <a:ext uri="{FF2B5EF4-FFF2-40B4-BE49-F238E27FC236}">
                <a16:creationId xmlns:a16="http://schemas.microsoft.com/office/drawing/2014/main" id="{BF60861F-ED01-2721-6B65-389CD248C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83" r="1" b="1"/>
          <a:stretch>
            <a:fillRect/>
          </a:stretch>
        </p:blipFill>
        <p:spPr>
          <a:xfrm>
            <a:off x="135209" y="121118"/>
            <a:ext cx="8870312" cy="4900569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6086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7082BC-09D3-42D6-9863-235F3AB4552E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c3f0d8b-ac50-4423-9eec-795cae88eee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Chain Analytics Platform - Sprint 6 Final</dc:title>
  <dc:subject>PptxGenJS Presentation</dc:subject>
  <dc:creator>PptxGenJS</dc:creator>
  <cp:revision>1</cp:revision>
  <dcterms:created xsi:type="dcterms:W3CDTF">2026-05-01T07:55:44Z</dcterms:created>
  <dcterms:modified xsi:type="dcterms:W3CDTF">2026-05-04T16:54:14Z</dcterms:modified>
</cp:coreProperties>
</file>